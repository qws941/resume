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96" autoAdjust="0"/>
    <p:restoredTop sz="94660"/>
  </p:normalViewPr>
  <p:slideViewPr>
    <p:cSldViewPr snapToGrid="0">
      <p:cViewPr>
        <p:scale>
          <a:sx n="150" d="100"/>
          <a:sy n="150" d="100"/>
        </p:scale>
        <p:origin x="1590" y="5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057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344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468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128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073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2997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163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856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130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767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59FE40-3498-4682-83BD-4075A02CDF66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F0D3DA-87C8-48C2-BE87-C50ED8B580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7745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23B0AC6-C932-67F9-38F2-6E8D140ED304}"/>
              </a:ext>
            </a:extLst>
          </p:cNvPr>
          <p:cNvCxnSpPr/>
          <p:nvPr userDrawn="1"/>
        </p:nvCxnSpPr>
        <p:spPr>
          <a:xfrm>
            <a:off x="0" y="841813"/>
            <a:ext cx="12192000" cy="0"/>
          </a:xfrm>
          <a:prstGeom prst="line">
            <a:avLst/>
          </a:prstGeom>
          <a:ln>
            <a:solidFill>
              <a:srgbClr val="0742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8995" y="6365892"/>
            <a:ext cx="1454331" cy="266107"/>
          </a:xfrm>
          <a:prstGeom prst="rect">
            <a:avLst/>
          </a:prstGeom>
        </p:spPr>
      </p:pic>
      <p:sp>
        <p:nvSpPr>
          <p:cNvPr id="10" name="제목 6"/>
          <p:cNvSpPr txBox="1">
            <a:spLocks/>
          </p:cNvSpPr>
          <p:nvPr userDrawn="1"/>
        </p:nvSpPr>
        <p:spPr>
          <a:xfrm>
            <a:off x="680751" y="206102"/>
            <a:ext cx="3439073" cy="498185"/>
          </a:xfrm>
          <a:prstGeom prst="rect">
            <a:avLst/>
          </a:prstGeom>
        </p:spPr>
        <p:txBody>
          <a:bodyPr/>
          <a:lstStyle>
            <a:lvl1pPr algn="l" rtl="0" fontAlgn="base" latinLnBrk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5pPr>
            <a:lvl6pPr marL="493442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6pPr>
            <a:lvl7pPr marL="986884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7pPr>
            <a:lvl8pPr marL="1480326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8pPr>
            <a:lvl9pPr marL="1973768" algn="ctr" rtl="0" fontAlgn="base" latinLnBrk="1">
              <a:spcBef>
                <a:spcPct val="0"/>
              </a:spcBef>
              <a:spcAft>
                <a:spcPct val="0"/>
              </a:spcAft>
              <a:defRPr sz="4749">
                <a:solidFill>
                  <a:schemeClr val="tx1"/>
                </a:solidFill>
                <a:latin typeface="KoPub돋움체 Medium  SemiBold" pitchFamily="50" charset="-127"/>
                <a:ea typeface="KoPub돋움체 Medium  SemiBold" pitchFamily="50" charset="-127"/>
              </a:defRPr>
            </a:lvl9pPr>
          </a:lstStyle>
          <a:p>
            <a:pPr defTabSz="914400"/>
            <a:r>
              <a:rPr lang="ko-KR" altLang="en-US" dirty="0">
                <a:latin typeface="HY그래픽M" panose="02030600000101010101" pitchFamily="18" charset="-127"/>
                <a:ea typeface="HY그래픽M" panose="02030600000101010101" pitchFamily="18" charset="-127"/>
              </a:rPr>
              <a:t>이력 및 경력사항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23B0AC6-C932-67F9-38F2-6E8D140ED304}"/>
              </a:ext>
            </a:extLst>
          </p:cNvPr>
          <p:cNvCxnSpPr/>
          <p:nvPr userDrawn="1"/>
        </p:nvCxnSpPr>
        <p:spPr>
          <a:xfrm>
            <a:off x="0" y="6228365"/>
            <a:ext cx="12192000" cy="0"/>
          </a:xfrm>
          <a:prstGeom prst="line">
            <a:avLst/>
          </a:prstGeom>
          <a:ln>
            <a:solidFill>
              <a:srgbClr val="0742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그룹 22"/>
          <p:cNvGrpSpPr/>
          <p:nvPr userDrawn="1"/>
        </p:nvGrpSpPr>
        <p:grpSpPr>
          <a:xfrm>
            <a:off x="469013" y="189470"/>
            <a:ext cx="61966" cy="565057"/>
            <a:chOff x="469013" y="189470"/>
            <a:chExt cx="61966" cy="565057"/>
          </a:xfrm>
        </p:grpSpPr>
        <p:cxnSp>
          <p:nvCxnSpPr>
            <p:cNvPr id="21" name="직선 연결선 20"/>
            <p:cNvCxnSpPr/>
            <p:nvPr userDrawn="1"/>
          </p:nvCxnSpPr>
          <p:spPr>
            <a:xfrm>
              <a:off x="469013" y="189470"/>
              <a:ext cx="0" cy="477795"/>
            </a:xfrm>
            <a:prstGeom prst="line">
              <a:avLst/>
            </a:prstGeom>
            <a:ln w="25400" cap="rnd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 userDrawn="1"/>
          </p:nvCxnSpPr>
          <p:spPr>
            <a:xfrm>
              <a:off x="530979" y="276732"/>
              <a:ext cx="0" cy="477795"/>
            </a:xfrm>
            <a:prstGeom prst="line">
              <a:avLst/>
            </a:prstGeom>
            <a:ln w="25400" cap="rnd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2606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F6D9032-CDD5-8690-FA66-2408BF2EA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075816"/>
              </p:ext>
            </p:extLst>
          </p:nvPr>
        </p:nvGraphicFramePr>
        <p:xfrm>
          <a:off x="478161" y="923889"/>
          <a:ext cx="10907963" cy="5180673"/>
        </p:xfrm>
        <a:graphic>
          <a:graphicData uri="http://schemas.openxmlformats.org/drawingml/2006/table">
            <a:tbl>
              <a:tblPr/>
              <a:tblGrid>
                <a:gridCol w="152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5121">
                  <a:extLst>
                    <a:ext uri="{9D8B030D-6E8A-4147-A177-3AD203B41FA5}">
                      <a16:colId xmlns:a16="http://schemas.microsoft.com/office/drawing/2014/main" val="1416508356"/>
                    </a:ext>
                  </a:extLst>
                </a:gridCol>
                <a:gridCol w="213580">
                  <a:extLst>
                    <a:ext uri="{9D8B030D-6E8A-4147-A177-3AD203B41FA5}">
                      <a16:colId xmlns:a16="http://schemas.microsoft.com/office/drawing/2014/main" val="1537190452"/>
                    </a:ext>
                  </a:extLst>
                </a:gridCol>
                <a:gridCol w="1311540">
                  <a:extLst>
                    <a:ext uri="{9D8B030D-6E8A-4147-A177-3AD203B41FA5}">
                      <a16:colId xmlns:a16="http://schemas.microsoft.com/office/drawing/2014/main" val="248982781"/>
                    </a:ext>
                  </a:extLst>
                </a:gridCol>
                <a:gridCol w="1525120">
                  <a:extLst>
                    <a:ext uri="{9D8B030D-6E8A-4147-A177-3AD203B41FA5}">
                      <a16:colId xmlns:a16="http://schemas.microsoft.com/office/drawing/2014/main" val="686502626"/>
                    </a:ext>
                  </a:extLst>
                </a:gridCol>
                <a:gridCol w="2169750">
                  <a:extLst>
                    <a:ext uri="{9D8B030D-6E8A-4147-A177-3AD203B41FA5}">
                      <a16:colId xmlns:a16="http://schemas.microsoft.com/office/drawing/2014/main" val="3925810642"/>
                    </a:ext>
                  </a:extLst>
                </a:gridCol>
                <a:gridCol w="1112612">
                  <a:extLst>
                    <a:ext uri="{9D8B030D-6E8A-4147-A177-3AD203B41FA5}">
                      <a16:colId xmlns:a16="http://schemas.microsoft.com/office/drawing/2014/main" val="706285407"/>
                    </a:ext>
                  </a:extLst>
                </a:gridCol>
                <a:gridCol w="1525120">
                  <a:extLst>
                    <a:ext uri="{9D8B030D-6E8A-4147-A177-3AD203B41FA5}">
                      <a16:colId xmlns:a16="http://schemas.microsoft.com/office/drawing/2014/main" val="1169490513"/>
                    </a:ext>
                  </a:extLst>
                </a:gridCol>
              </a:tblGrid>
              <a:tr h="276771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en-US" altLang="ko-KR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1. </a:t>
                      </a:r>
                      <a:r>
                        <a:rPr kumimoji="0" lang="ko-KR" altLang="en-US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기본사항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담당업무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300553"/>
                  </a:ext>
                </a:extLst>
              </a:tr>
              <a:tr h="341596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1pPr>
                      <a:lvl2pPr marL="49784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2pPr>
                      <a:lvl3pPr marL="99569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3pPr>
                      <a:lvl4pPr marL="149353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4pPr>
                      <a:lvl5pPr marL="199138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5pPr>
                      <a:lvl6pPr marL="2489225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6pPr>
                      <a:lvl7pPr marL="2987070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7pPr>
                      <a:lvl8pPr marL="3484916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8pPr>
                      <a:lvl9pPr marL="3982761" algn="l" defTabSz="995690" rtl="0" eaLnBrk="1" latinLnBrk="1" hangingPunct="1">
                        <a:defRPr sz="2000" kern="1200">
                          <a:solidFill>
                            <a:schemeClr val="tx1"/>
                          </a:solidFill>
                          <a:latin typeface="Pretendard SemiBold"/>
                          <a:ea typeface="Pretendard SemiBold"/>
                        </a:defRPr>
                      </a:lvl9pPr>
                    </a:lstStyle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성명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소속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Pretendard Medium" panose="02000603000000020004" pitchFamily="50" charset="-127"/>
                          <a:sym typeface="Pretendard SemiBold"/>
                        </a:rPr>
                        <a:t>직위 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직위 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등급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학력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전공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000" b="0" kern="120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전문분야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37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이재철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en-US" altLang="ko-KR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아이티센 CTS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Pretendard" panose="02000503000000020004" pitchFamily="50" charset="-127"/>
                          <a:sym typeface="Pretendard SemiBold"/>
                        </a:rPr>
                        <a:t>부장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고급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한양사이버대학교</a:t>
                      </a:r>
                      <a:r>
                        <a:rPr lang="en-US" altLang="ko-KR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(</a:t>
                      </a: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재학</a:t>
                      </a:r>
                      <a:r>
                        <a:rPr lang="en-US" altLang="ko-KR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)</a:t>
                      </a: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컴퓨터공학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508744"/>
                  </a:ext>
                </a:extLst>
              </a:tr>
              <a:tr h="373432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나이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만 </a:t>
                      </a:r>
                      <a:r>
                        <a:rPr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  31 </a:t>
                      </a:r>
                      <a:r>
                        <a:rPr lang="ko-KR" altLang="en-US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세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Pretendard Medium" panose="02000603000000020004" pitchFamily="50" charset="-127"/>
                          <a:sym typeface="Pretendard SemiBold"/>
                        </a:rPr>
                        <a:t>총 경력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총 경력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en-US" altLang="ko-KR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7년 5개월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전문분야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en-US" altLang="ko-KR" sz="1100" b="0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TA, 인프라설계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B1B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0413523"/>
                  </a:ext>
                </a:extLst>
              </a:tr>
              <a:tr h="247637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클라우드/온프레미스 인프라 설계·구축
IaC 자동화 및 CI/CD 파이프라인 구성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KoPub돋움체 Bold" panose="02020603020101020101" pitchFamily="18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725"/>
                  </a:ext>
                </a:extLst>
              </a:tr>
              <a:tr h="247637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 모니터링 체계 수립
IT 인프라 운영/관리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744804"/>
                  </a:ext>
                </a:extLst>
              </a:tr>
              <a:tr h="276771">
                <a:tc gridSpan="5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en-US" altLang="ko-KR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2. </a:t>
                      </a:r>
                      <a:r>
                        <a:rPr kumimoji="0" lang="ko-KR" altLang="en-US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경력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gridSpan="3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3. </a:t>
                      </a:r>
                      <a:r>
                        <a:rPr kumimoji="0" lang="ko-KR" altLang="en-US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자격증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KoPub돋움체 Bold" panose="02020603020101020101" pitchFamily="18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628550480"/>
                  </a:ext>
                </a:extLst>
              </a:tr>
              <a:tr h="375270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회사명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기간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직위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담당업무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자격증명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endParaRPr kumimoji="0" lang="ko-KR" altLang="en-US" sz="1100" b="0" kern="1200" baseline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취득일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467489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아이티센 CTS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2025.03 ~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넥스트레이드 매매체결
시스템 인프라 운영 SM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Red Hat Certified System Administrator (RHCSA)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2019.01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5312540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가온누리정보시스템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2024.03~2025.02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넥스트레이드 매매체결
시스템 인프라 구축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af-ZA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CompTIA Linux+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2019.02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78843"/>
                  </a:ext>
                </a:extLst>
              </a:tr>
              <a:tr h="24763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콴텍투자일임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2022.08~2024.02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AI투자서비스
IT인프라 운영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af-ZA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LPIC Level 1 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2019.02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278148"/>
                  </a:ext>
                </a:extLst>
              </a:tr>
              <a:tr h="30044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펀엔씨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2022.05~2022.07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이커머스 클라우드
인프라 마이그레이션</a:t>
                      </a:r>
                      <a:b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100" b="0" kern="1200" baseline="0" dirty="0" err="1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사무자동화산업기사</a:t>
                      </a: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2019.12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348449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조인트리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2021.09~2022.04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국민대학교
차세대 IT인프라
구축/운영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ko-KR" altLang="en-US" sz="1100" b="0" kern="1200" baseline="0" dirty="0" err="1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리눅스마스터</a:t>
                      </a:r>
                      <a:r>
                        <a:rPr kumimoji="0" lang="ko-KR" altLang="en-US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 </a:t>
                      </a:r>
                      <a:r>
                        <a:rPr kumimoji="0"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2</a:t>
                      </a:r>
                      <a:r>
                        <a:rPr kumimoji="0" lang="ko-KR" altLang="en-US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급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2019.01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81663"/>
                  </a:ext>
                </a:extLst>
              </a:tr>
              <a:tr h="4461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메타넷엠플랫폼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2019.12~2021.08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콜센터 인프라 구축
(네트워크/회선)</a:t>
                      </a:r>
                      <a:b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kumimoji="0"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CCNP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2020.08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326498"/>
                  </a:ext>
                </a:extLst>
              </a:tr>
              <a:tr h="30044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엠티데이타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2017.02~2018.10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한국항공우주산업
시스템/인프라 운영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kumimoji="0" lang="ko-KR" altLang="en-US" sz="1100" b="0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Pretendard SemiBold"/>
                      </a:endParaRPr>
                      <a:r>
                        <a:rPr kumimoji="0" lang="en-US" altLang="ko-KR" sz="1100" b="0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Pretendard SemiBold"/>
                        </a:rPr>
                        <a:t>자율주행 시뮬레이션
경진대회 우수상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1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2026.02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3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0823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819F73D-066F-DCE5-3DAD-E265E4F4A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406439"/>
              </p:ext>
            </p:extLst>
          </p:nvPr>
        </p:nvGraphicFramePr>
        <p:xfrm>
          <a:off x="646728" y="1171631"/>
          <a:ext cx="10907962" cy="4604304"/>
        </p:xfrm>
        <a:graphic>
          <a:graphicData uri="http://schemas.openxmlformats.org/drawingml/2006/table">
            <a:tbl>
              <a:tblPr/>
              <a:tblGrid>
                <a:gridCol w="2367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381">
                  <a:extLst>
                    <a:ext uri="{9D8B030D-6E8A-4147-A177-3AD203B41FA5}">
                      <a16:colId xmlns:a16="http://schemas.microsoft.com/office/drawing/2014/main" val="1163780365"/>
                    </a:ext>
                  </a:extLst>
                </a:gridCol>
                <a:gridCol w="1835894">
                  <a:extLst>
                    <a:ext uri="{9D8B030D-6E8A-4147-A177-3AD203B41FA5}">
                      <a16:colId xmlns:a16="http://schemas.microsoft.com/office/drawing/2014/main" val="2402368711"/>
                    </a:ext>
                  </a:extLst>
                </a:gridCol>
                <a:gridCol w="2036513">
                  <a:extLst>
                    <a:ext uri="{9D8B030D-6E8A-4147-A177-3AD203B41FA5}">
                      <a16:colId xmlns:a16="http://schemas.microsoft.com/office/drawing/2014/main" val="736016067"/>
                    </a:ext>
                  </a:extLst>
                </a:gridCol>
                <a:gridCol w="1881096">
                  <a:extLst>
                    <a:ext uri="{9D8B030D-6E8A-4147-A177-3AD203B41FA5}">
                      <a16:colId xmlns:a16="http://schemas.microsoft.com/office/drawing/2014/main" val="1670531095"/>
                    </a:ext>
                  </a:extLst>
                </a:gridCol>
                <a:gridCol w="1525119">
                  <a:extLst>
                    <a:ext uri="{9D8B030D-6E8A-4147-A177-3AD203B41FA5}">
                      <a16:colId xmlns:a16="http://schemas.microsoft.com/office/drawing/2014/main" val="1169490513"/>
                    </a:ext>
                  </a:extLst>
                </a:gridCol>
              </a:tblGrid>
              <a:tr h="408260">
                <a:tc gridSpan="6">
                  <a:txBody>
                    <a:bodyPr/>
                    <a:lstStyle/>
                    <a:p>
                      <a:pPr marL="0" marR="0" lvl="0" indent="0" algn="l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en-US" altLang="ko-KR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4. </a:t>
                      </a:r>
                      <a:r>
                        <a:rPr kumimoji="0" lang="ko-KR" altLang="en-US" sz="13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프로젝트 참여이력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endParaRPr lang="ko-KR" altLang="en-US" sz="1000" b="0" kern="120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904196"/>
                  </a:ext>
                </a:extLst>
              </a:tr>
              <a:tr h="539854"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kumimoji="0" lang="ko-KR" altLang="en-US" sz="1100" b="1" kern="1200" baseline="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 Medium" panose="02000603000000020004" pitchFamily="50" charset="-127"/>
                          <a:sym typeface="Pretendard SemiBold"/>
                        </a:rPr>
                        <a:t>프로젝트명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역할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1983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ct val="140000"/>
                        <a:buFont typeface="Wingdings 2" pitchFamily="18" charset="2"/>
                        <a:buNone/>
                        <a:tabLst>
                          <a:tab pos="5805348" algn="l"/>
                        </a:tabLst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담당업무</a:t>
                      </a:r>
                      <a:endParaRPr kumimoji="0" lang="ko-KR" altLang="en-US" sz="1100" b="1" kern="1200" baseline="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 Medium" panose="020006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1" kern="1200" dirty="0" err="1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기술스펙</a:t>
                      </a:r>
                      <a:endParaRPr lang="ko-KR" altLang="en-US" sz="1100" b="1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투입기간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42988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Pct val="80000"/>
                        <a:buFont typeface="Arial" pitchFamily="34" charset="0"/>
                        <a:buNone/>
                        <a:tabLst>
                          <a:tab pos="182563" algn="l"/>
                        </a:tabLst>
                        <a:defRPr/>
                      </a:pPr>
                      <a:r>
                        <a:rPr lang="ko-KR" altLang="en-US" sz="1100" b="1" kern="1200" dirty="0">
                          <a:ln>
                            <a:solidFill>
                              <a:srgbClr val="00A1E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Pretendard" panose="02000503000000020004" pitchFamily="50" charset="-127"/>
                          <a:sym typeface="Pretendard SemiBold"/>
                        </a:rPr>
                        <a:t>발주처</a:t>
                      </a:r>
                      <a:endParaRPr lang="ko-KR" altLang="en-US" sz="1000" b="0" kern="1200" dirty="0">
                        <a:ln>
                          <a:solidFill>
                            <a:srgbClr val="00A1E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Pretendard" panose="02000503000000020004" pitchFamily="50" charset="-127"/>
                        <a:sym typeface="Pretendard SemiBold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88192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매매체결시스템 운영 SM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TA/SM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IT인프라 운영/관리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Linux, Docker, Terraform,
Splunk, VMware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2025.03~현재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spc="-100" baseline="0" dirty="0" err="1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넥스트레이드</a:t>
                      </a: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806300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매매체결시스템 인프라 구축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TA/구축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인프라 아키텍처 설계
시스템 구축/인허가 대응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FortiGate, FortiManager,
Linux, VMware, Terraform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2024.03~2025.02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넥스트레이드</a:t>
                      </a: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300894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AI투자서비스
IT인프라 운영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TA/운영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클라우드 인프라 운영
모니터링 체계 구축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AWS, Terraform,
Prometheus, Grafana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2022.08~2024.02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콴텍투자일임</a:t>
                      </a: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14561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이커머스 클라우드
마이그레이션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TA/구축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클라우드 마이그레이션
설계/구축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AWS, Kubernetes,
Docker, GitLab CI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2022.05~2022.07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펀엔씨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54670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차세대 IT인프라 구축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TA/구축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IT인프라 구축/운영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VMware NSX-T, vSphere,
Linux, FortiGate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2021.09~2022.04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국민대학교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82709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콜센터 인프라 구축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TA/구축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인프라 구축/자동화
VPN/모니터링 운영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Ansible, VPN,
Zabbix, Python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2019.12~2021.08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메타넷엠플랫폼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163382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프라이빗 클라우드
IaC 플랫폼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TA/설계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IaC 기반 인프라
설계/자동화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Terraform, Bazel,
Cloud-init, Proxmox VE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2024.01~현재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8319921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AI 기반 인프라
자동화 플랫폼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TA/설계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AI 인프라 자동화 구축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Python, Go, n8n,
MCP, Docker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2024.09~현재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178434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 pitchFamily="2" charset="2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Full-Stack
Observability Platform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TA/설계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통합 모니터링
플랫폼 구축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Grafana, Prometheus,
ELK, GlitchTip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 pitchFamily="2" charset="2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2024.06~현재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개인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560218"/>
                  </a:ext>
                </a:extLst>
              </a:tr>
              <a:tr h="365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spc="-100" baseline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Monotype Sorts" pitchFamily="2" charset="2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CI/CD 파이프라인
자동화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TA/구축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2075" marR="0" lvl="0" indent="-92075" algn="ctr" defTabSz="1042988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5648325" algn="l"/>
                        </a:tabLst>
                      </a:pPr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CI/CD 및
네트워크 자동화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3000"/>
                        </a:lnSpc>
                        <a:buNone/>
                        <a:tabLst>
                          <a:tab pos="508000" algn="l"/>
                          <a:tab pos="101600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endParaRPr lang="ko-KR" sz="105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GitHub Actions,
Traefik, Vault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0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itchFamily="18" charset="0"/>
                        <a:sym typeface="Monotype Sorts" pitchFamily="2" charset="2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2024.03~현재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  <a:r>
                        <a:rPr lang="ko-KR" altLang="en-US" sz="1050" kern="1200" spc="-100" baseline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개인</a:t>
                      </a:r>
                    </a:p>
                  </a:txBody>
                  <a:tcPr marL="36000" marR="36000" marT="36000" marB="36000" anchor="ctr" horzOverflow="overflow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AB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618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4119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w Cen MT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142</Words>
  <Application>Microsoft Office PowerPoint</Application>
  <PresentationFormat>와이드스크린</PresentationFormat>
  <Paragraphs>79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Chul Soo Park</dc:creator>
  <cp:lastModifiedBy>이재철</cp:lastModifiedBy>
  <cp:revision>15</cp:revision>
  <dcterms:created xsi:type="dcterms:W3CDTF">2025-10-19T06:13:25Z</dcterms:created>
  <dcterms:modified xsi:type="dcterms:W3CDTF">2026-02-12T07:33:55Z</dcterms:modified>
</cp:coreProperties>
</file>