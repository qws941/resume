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396" autoAdjust="0"/>
    <p:restoredTop sz="94660"/>
  </p:normalViewPr>
  <p:slideViewPr>
    <p:cSldViewPr snapToGrid="0">
      <p:cViewPr>
        <p:scale>
          <a:sx n="150" d="100"/>
          <a:sy n="150" d="100"/>
        </p:scale>
        <p:origin x="1590" y="5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057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9344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1468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8128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6073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2997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8163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6856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9130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8767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077455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23B0AC6-C932-67F9-38F2-6E8D140ED304}"/>
              </a:ext>
            </a:extLst>
          </p:cNvPr>
          <p:cNvCxnSpPr/>
          <p:nvPr userDrawn="1"/>
        </p:nvCxnSpPr>
        <p:spPr>
          <a:xfrm>
            <a:off x="0" y="841813"/>
            <a:ext cx="12192000" cy="0"/>
          </a:xfrm>
          <a:prstGeom prst="line">
            <a:avLst/>
          </a:prstGeom>
          <a:ln>
            <a:solidFill>
              <a:srgbClr val="0742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8995" y="6365892"/>
            <a:ext cx="1454331" cy="266107"/>
          </a:xfrm>
          <a:prstGeom prst="rect">
            <a:avLst/>
          </a:prstGeom>
        </p:spPr>
      </p:pic>
      <p:sp>
        <p:nvSpPr>
          <p:cNvPr id="10" name="제목 6"/>
          <p:cNvSpPr txBox="1">
            <a:spLocks/>
          </p:cNvSpPr>
          <p:nvPr userDrawn="1"/>
        </p:nvSpPr>
        <p:spPr>
          <a:xfrm>
            <a:off x="680751" y="206102"/>
            <a:ext cx="3439073" cy="498185"/>
          </a:xfrm>
          <a:prstGeom prst="rect">
            <a:avLst/>
          </a:prstGeom>
        </p:spPr>
        <p:txBody>
          <a:bodyPr/>
          <a:lstStyle>
            <a:lvl1pPr algn="l" rtl="0" fontAlgn="base" latinLnBrk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2pPr>
            <a:lvl3pPr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3pPr>
            <a:lvl4pPr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4pPr>
            <a:lvl5pPr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5pPr>
            <a:lvl6pPr marL="493442"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6pPr>
            <a:lvl7pPr marL="986884"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7pPr>
            <a:lvl8pPr marL="1480326"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8pPr>
            <a:lvl9pPr marL="1973768"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9pPr>
          </a:lstStyle>
          <a:p>
            <a:pPr defTabSz="914400"/>
            <a:r>
              <a:rPr lang="ko-KR" altLang="en-US" dirty="0">
                <a:latin typeface="HY그래픽M" panose="02030600000101010101" pitchFamily="18" charset="-127"/>
                <a:ea typeface="HY그래픽M" panose="02030600000101010101" pitchFamily="18" charset="-127"/>
              </a:rPr>
              <a:t>이력 및 경력사항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23B0AC6-C932-67F9-38F2-6E8D140ED304}"/>
              </a:ext>
            </a:extLst>
          </p:cNvPr>
          <p:cNvCxnSpPr/>
          <p:nvPr userDrawn="1"/>
        </p:nvCxnSpPr>
        <p:spPr>
          <a:xfrm>
            <a:off x="0" y="6228365"/>
            <a:ext cx="12192000" cy="0"/>
          </a:xfrm>
          <a:prstGeom prst="line">
            <a:avLst/>
          </a:prstGeom>
          <a:ln>
            <a:solidFill>
              <a:srgbClr val="0742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그룹 22"/>
          <p:cNvGrpSpPr/>
          <p:nvPr userDrawn="1"/>
        </p:nvGrpSpPr>
        <p:grpSpPr>
          <a:xfrm>
            <a:off x="469013" y="189470"/>
            <a:ext cx="61966" cy="565057"/>
            <a:chOff x="469013" y="189470"/>
            <a:chExt cx="61966" cy="565057"/>
          </a:xfrm>
        </p:grpSpPr>
        <p:cxnSp>
          <p:nvCxnSpPr>
            <p:cNvPr id="21" name="직선 연결선 20"/>
            <p:cNvCxnSpPr/>
            <p:nvPr userDrawn="1"/>
          </p:nvCxnSpPr>
          <p:spPr>
            <a:xfrm>
              <a:off x="469013" y="189470"/>
              <a:ext cx="0" cy="477795"/>
            </a:xfrm>
            <a:prstGeom prst="line">
              <a:avLst/>
            </a:prstGeom>
            <a:ln w="25400" cap="rnd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/>
            <p:cNvCxnSpPr/>
            <p:nvPr userDrawn="1"/>
          </p:nvCxnSpPr>
          <p:spPr>
            <a:xfrm>
              <a:off x="530979" y="276732"/>
              <a:ext cx="0" cy="477795"/>
            </a:xfrm>
            <a:prstGeom prst="line">
              <a:avLst/>
            </a:prstGeom>
            <a:ln w="25400" cap="rnd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22606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F6D9032-CDD5-8690-FA66-2408BF2EA1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2075816"/>
              </p:ext>
            </p:extLst>
          </p:nvPr>
        </p:nvGraphicFramePr>
        <p:xfrm>
          <a:off x="478161" y="723889"/>
          <a:ext cx="10907963" cy="5561187"/>
        </p:xfrm>
        <a:graphic>
          <a:graphicData uri="http://schemas.openxmlformats.org/drawingml/2006/table">
            <a:tbl>
              <a:tblPr/>
              <a:tblGrid>
                <a:gridCol w="152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5121">
                  <a:extLst>
                    <a:ext uri="{9D8B030D-6E8A-4147-A177-3AD203B41FA5}">
                      <a16:colId xmlns:a16="http://schemas.microsoft.com/office/drawing/2014/main" val="1416508356"/>
                    </a:ext>
                  </a:extLst>
                </a:gridCol>
                <a:gridCol w="213580">
                  <a:extLst>
                    <a:ext uri="{9D8B030D-6E8A-4147-A177-3AD203B41FA5}">
                      <a16:colId xmlns:a16="http://schemas.microsoft.com/office/drawing/2014/main" val="1537190452"/>
                    </a:ext>
                  </a:extLst>
                </a:gridCol>
                <a:gridCol w="1311540">
                  <a:extLst>
                    <a:ext uri="{9D8B030D-6E8A-4147-A177-3AD203B41FA5}">
                      <a16:colId xmlns:a16="http://schemas.microsoft.com/office/drawing/2014/main" val="248982781"/>
                    </a:ext>
                  </a:extLst>
                </a:gridCol>
                <a:gridCol w="1525120">
                  <a:extLst>
                    <a:ext uri="{9D8B030D-6E8A-4147-A177-3AD203B41FA5}">
                      <a16:colId xmlns:a16="http://schemas.microsoft.com/office/drawing/2014/main" val="686502626"/>
                    </a:ext>
                  </a:extLst>
                </a:gridCol>
                <a:gridCol w="2169750">
                  <a:extLst>
                    <a:ext uri="{9D8B030D-6E8A-4147-A177-3AD203B41FA5}">
                      <a16:colId xmlns:a16="http://schemas.microsoft.com/office/drawing/2014/main" val="3925810642"/>
                    </a:ext>
                  </a:extLst>
                </a:gridCol>
                <a:gridCol w="1112612">
                  <a:extLst>
                    <a:ext uri="{9D8B030D-6E8A-4147-A177-3AD203B41FA5}">
                      <a16:colId xmlns:a16="http://schemas.microsoft.com/office/drawing/2014/main" val="706285407"/>
                    </a:ext>
                  </a:extLst>
                </a:gridCol>
                <a:gridCol w="1525120">
                  <a:extLst>
                    <a:ext uri="{9D8B030D-6E8A-4147-A177-3AD203B41FA5}">
                      <a16:colId xmlns:a16="http://schemas.microsoft.com/office/drawing/2014/main" val="1169490513"/>
                    </a:ext>
                  </a:extLst>
                </a:gridCol>
              </a:tblGrid>
              <a:tr h="276771">
                <a:tc gridSpan="5">
                  <a:txBody>
                    <a:bodyPr/>
                    <a:lstStyle/>
                    <a:p>
                      <a:pPr marL="0" marR="0" lvl="0" indent="0" algn="l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en-US" altLang="ko-KR" sz="1300" b="1" kern="12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1. </a:t>
                      </a:r>
                      <a:r>
                        <a:rPr kumimoji="0" lang="ko-KR" altLang="en-US" sz="1300" b="1" kern="12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기본사항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담당업무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300553"/>
                  </a:ext>
                </a:extLst>
              </a:tr>
              <a:tr h="341596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1pPr>
                      <a:lvl2pPr marL="49784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2pPr>
                      <a:lvl3pPr marL="99569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3pPr>
                      <a:lvl4pPr marL="149353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4pPr>
                      <a:lvl5pPr marL="199138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5pPr>
                      <a:lvl6pPr marL="248922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6pPr>
                      <a:lvl7pPr marL="298707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7pPr>
                      <a:lvl8pPr marL="3484916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8pPr>
                      <a:lvl9pPr marL="3982761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9pPr>
                    </a:lstStyle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성명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소속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직위 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직위 </a:t>
                      </a:r>
                      <a:endParaRPr kumimoji="0" lang="ko-KR" altLang="en-US" sz="1100" b="1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등급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학력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전공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000" b="0" kern="120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전문분야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637"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0" kern="12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이재철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아이티센 CTS</a:t>
                      </a: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0" kern="120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부장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부장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0" kern="120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고급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0" kern="120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한양사이버대학교</a:t>
                      </a: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(</a:t>
                      </a:r>
                      <a:r>
                        <a:rPr lang="ko-KR" altLang="en-US" sz="1100" b="0" kern="120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재학</a:t>
                      </a: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)</a:t>
                      </a: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0" kern="120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컴퓨터공학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8508744"/>
                  </a:ext>
                </a:extLst>
              </a:tr>
              <a:tr h="373432"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나이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0" kern="120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만 </a:t>
                      </a:r>
                      <a:r>
                        <a:rPr lang="en-US" altLang="ko-KR" sz="1100" b="0" kern="12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  31 </a:t>
                      </a:r>
                      <a:r>
                        <a:rPr lang="ko-KR" altLang="en-US" sz="1100" b="0" kern="120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세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총 경력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총 경력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7년 5개월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전문분야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TA, 인프라설계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0413523"/>
                  </a:ext>
                </a:extLst>
              </a:tr>
              <a:tr h="220000">
                <a:tc gridSpan="5">
                  <a:txBody>
                    <a:bodyPr/>
                    <a:lstStyle/>
                    <a:p>
                      <a:pPr marL="0" marR="0" lvl="0" indent="0" algn="l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클라우드/온프레미스 인프라 설계·구축
IaC 자동화 및 CI/CD 파이프라인 구성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KoPub돋움체 Bold" panose="02020603020101020101" pitchFamily="18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6725"/>
                  </a:ext>
                </a:extLst>
              </a:tr>
              <a:tr h="220000">
                <a:tc gridSpan="5">
                  <a:txBody>
                    <a:bodyPr/>
                    <a:lstStyle/>
                    <a:p>
                      <a:pPr marL="0" marR="0" lvl="0" indent="0" algn="l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통합 모니터링 체계 수립
IT 인프라 운영/관리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744804"/>
                  </a:ext>
                </a:extLst>
              </a:tr>
              <a:tr h="276771">
                <a:tc gridSpan="5">
                  <a:txBody>
                    <a:bodyPr/>
                    <a:lstStyle/>
                    <a:p>
                      <a:pPr marL="0" marR="0" lvl="0" indent="0" algn="l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en-US" altLang="ko-KR" sz="1300" b="1" kern="12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2. </a:t>
                      </a:r>
                      <a:r>
                        <a:rPr kumimoji="0" lang="ko-KR" altLang="en-US" sz="1300" b="1" kern="12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경력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/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/>
                </a:tc>
                <a:tc gridSpan="3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en-US" altLang="ko-KR" sz="1300" b="1" kern="12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3. </a:t>
                      </a:r>
                      <a:r>
                        <a:rPr kumimoji="0" lang="ko-KR" altLang="en-US" sz="1300" b="1" kern="12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자격증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KoPub돋움체 Bold" panose="02020603020101020101" pitchFamily="18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/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628550480"/>
                  </a:ext>
                </a:extLst>
              </a:tr>
              <a:tr h="375270"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회사명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기간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직위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endParaRPr kumimoji="0" lang="ko-KR" altLang="en-US" sz="1100" b="0" kern="1200" baseline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담당업무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자격증명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endParaRPr kumimoji="0" lang="ko-KR" altLang="en-US" sz="1100" b="0" kern="1200" baseline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취득일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467489"/>
                  </a:ext>
                </a:extLst>
              </a:tr>
              <a:tr h="4461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아이티센 CTS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2025.03 ~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현재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부장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넥스트레이드 매매체결
시스템 인프라 운영 SM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en-US" altLang="ko-KR" sz="1100" b="0" kern="12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Red Hat Certified System Administrator (RHCSA) </a:t>
                      </a: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2019.01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5312540"/>
                  </a:ext>
                </a:extLst>
              </a:tr>
              <a:tr h="44611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가온누리정보시스템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2024.03~2025.02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과장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넥스트레이드 매매체결
시스템 인프라 구축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af-ZA" altLang="ko-KR" sz="1100" b="0" kern="12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CompTIA Linux+ </a:t>
                      </a: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2019.02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578843"/>
                  </a:ext>
                </a:extLst>
              </a:tr>
              <a:tr h="37527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콴텍투자일임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2022.08~2024.02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과장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AI투자서비스
IT인프라 운영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af-ZA" altLang="ko-KR" sz="1100" b="0" kern="12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LPIC Level 1 </a:t>
                      </a: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2019.02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5278148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펀엔씨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2022.05~2022.07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대리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이커머스 클라우드
인프라 마이그레이션</a:t>
                      </a:r>
                      <a:b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</a:b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ko-KR" altLang="en-US" sz="1100" b="0" kern="1200" baseline="0" dirty="0" err="1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사무자동화산업기사</a:t>
                      </a: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2019.12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8348449"/>
                  </a:ext>
                </a:extLst>
              </a:tr>
              <a:tr h="44611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조인트리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2021.09~2022.04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대리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국민대학교
차세대 IT인프라
구축/운영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ko-KR" altLang="en-US" sz="1100" b="0" kern="1200" baseline="0" dirty="0" err="1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리눅스마스터</a:t>
                      </a:r>
                      <a:r>
                        <a:rPr kumimoji="0" lang="ko-KR" altLang="en-US" sz="1100" b="0" kern="12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 </a:t>
                      </a:r>
                      <a:r>
                        <a:rPr kumimoji="0" lang="en-US" altLang="ko-KR" sz="1100" b="0" kern="12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2</a:t>
                      </a:r>
                      <a:r>
                        <a:rPr kumimoji="0" lang="ko-KR" altLang="en-US" sz="1100" b="0" kern="12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급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2019.01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581663"/>
                  </a:ext>
                </a:extLst>
              </a:tr>
              <a:tr h="44611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메타넷엠플랫폼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2019.12~2021.08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사원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콜센터 인프라 구축
(네트워크/회선)</a:t>
                      </a:r>
                      <a:b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</a:b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en-US" altLang="ko-KR" sz="1100" b="0" kern="12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CCNP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2020.08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4326498"/>
                  </a:ext>
                </a:extLst>
              </a:tr>
              <a:tr h="800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엠티데이타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2017.02~2018.10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사원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한국항공우주산업
시스템/인프라 운영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Pretendard SemiBold"/>
                      </a:endParaRPr>
                      <a:r>
                        <a:rPr kumimoji="0" lang="en-US" altLang="ko-KR" sz="1100" b="0" kern="12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자율주행 시뮬레이션
경진대회 우수상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2026.02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932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0823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819F73D-066F-DCE5-3DAD-E265E4F4A6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7406439"/>
              </p:ext>
            </p:extLst>
          </p:nvPr>
        </p:nvGraphicFramePr>
        <p:xfrm>
          <a:off x="646728" y="1171631"/>
          <a:ext cx="10907962" cy="4788685"/>
        </p:xfrm>
        <a:graphic>
          <a:graphicData uri="http://schemas.openxmlformats.org/drawingml/2006/table">
            <a:tbl>
              <a:tblPr/>
              <a:tblGrid>
                <a:gridCol w="2367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1381">
                  <a:extLst>
                    <a:ext uri="{9D8B030D-6E8A-4147-A177-3AD203B41FA5}">
                      <a16:colId xmlns:a16="http://schemas.microsoft.com/office/drawing/2014/main" val="1163780365"/>
                    </a:ext>
                  </a:extLst>
                </a:gridCol>
                <a:gridCol w="1835894">
                  <a:extLst>
                    <a:ext uri="{9D8B030D-6E8A-4147-A177-3AD203B41FA5}">
                      <a16:colId xmlns:a16="http://schemas.microsoft.com/office/drawing/2014/main" val="2402368711"/>
                    </a:ext>
                  </a:extLst>
                </a:gridCol>
                <a:gridCol w="2036513">
                  <a:extLst>
                    <a:ext uri="{9D8B030D-6E8A-4147-A177-3AD203B41FA5}">
                      <a16:colId xmlns:a16="http://schemas.microsoft.com/office/drawing/2014/main" val="736016067"/>
                    </a:ext>
                  </a:extLst>
                </a:gridCol>
                <a:gridCol w="1881096">
                  <a:extLst>
                    <a:ext uri="{9D8B030D-6E8A-4147-A177-3AD203B41FA5}">
                      <a16:colId xmlns:a16="http://schemas.microsoft.com/office/drawing/2014/main" val="1670531095"/>
                    </a:ext>
                  </a:extLst>
                </a:gridCol>
                <a:gridCol w="1525119">
                  <a:extLst>
                    <a:ext uri="{9D8B030D-6E8A-4147-A177-3AD203B41FA5}">
                      <a16:colId xmlns:a16="http://schemas.microsoft.com/office/drawing/2014/main" val="1169490513"/>
                    </a:ext>
                  </a:extLst>
                </a:gridCol>
              </a:tblGrid>
              <a:tr h="408260">
                <a:tc gridSpan="6">
                  <a:txBody>
                    <a:bodyPr/>
                    <a:lstStyle/>
                    <a:p>
                      <a:pPr marL="0" marR="0" lvl="0" indent="0" algn="l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en-US" altLang="ko-KR" sz="1300" b="1" kern="12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4. </a:t>
                      </a:r>
                      <a:r>
                        <a:rPr kumimoji="0" lang="ko-KR" altLang="en-US" sz="1300" b="1" kern="12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프로젝트 참여이력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8904196"/>
                  </a:ext>
                </a:extLst>
              </a:tr>
              <a:tr h="539854"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프로젝트명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lang="ko-KR" altLang="en-US" sz="1100" b="1" kern="120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역할</a:t>
                      </a:r>
                      <a:endParaRPr kumimoji="0" lang="ko-KR" altLang="en-US" sz="1100" b="1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lang="ko-KR" altLang="en-US" sz="1100" b="1" kern="120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담당업무</a:t>
                      </a:r>
                      <a:endParaRPr kumimoji="0" lang="ko-KR" altLang="en-US" sz="1100" b="1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1" kern="1200" dirty="0" err="1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기술스펙</a:t>
                      </a:r>
                      <a:endParaRPr lang="ko-KR" altLang="en-US" sz="1100" b="1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1" kern="120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투입기간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1" kern="120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발주처</a:t>
                      </a:r>
                      <a:endParaRPr lang="ko-KR" altLang="en-US" sz="10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6881922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매매체결시스템 운영 SM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TA/SM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r>
                        <a:rPr lang="ko-KR" altLang="en-US" sz="1050" kern="1200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IT인프라 운영/관리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05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Linux, Docker, Terraform,
Splunk, VMware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r>
                        <a:rPr lang="en-US" altLang="ko-KR" sz="1050" kern="1200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2025.03~현재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kern="1200" spc="-100" baseline="0" dirty="0" err="1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넥스트레이드</a:t>
                      </a:r>
                      <a:endParaRPr lang="ko-KR" altLang="en-US" sz="105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1806300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매매체결시스템 인프라 구축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TA/구축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r>
                        <a:rPr lang="ko-KR" altLang="en-US" sz="1050" kern="1200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인프라 아키텍처 설계
시스템 구축/인허가 대응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05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FortiGate, FortiManager,
Linux, VMware, Terraform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kern="1200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2024.03~2025.02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kern="1200" dirty="0" err="1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넥스트레이드</a:t>
                      </a:r>
                      <a:endParaRPr lang="ko-KR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5300894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AI투자서비스
IT인프라 운영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TA/운영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r>
                        <a:rPr lang="ko-KR" altLang="en-US" sz="1050" kern="1200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클라우드 인프라 운영
모니터링 체계 구축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05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AWS, Terraform,
Prometheus, Grafana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kern="1200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2022.08~2024.02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kern="1200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콴텍투자일임</a:t>
                      </a:r>
                      <a:endParaRPr lang="ko-KR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14561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이커머스 클라우드
마이그레이션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TA/구축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클라우드 마이그레이션
설계/구축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05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AWS, Kubernetes,
Docker, GitLab CI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2022.05~2022.07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펀엔씨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8546702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차세대 IT인프라 구축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TA/구축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IT인프라 구축/운영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05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VMware NSX-T, vSphere,
Linux, FortiGate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2021.09~2022.04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국민대학교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682709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콜센터 인프라 구축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TA/구축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인프라 구축/자동화
VPN/모니터링 운영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05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Ansible, VPN,
Zabbix, Python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2019.12~2021.08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메타넷엠플랫폼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9163382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프라이빗 클라우드
IaC 플랫폼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TA/설계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IaC 기반 인프라
설계/자동화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05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Terraform, Bazel,
Cloud-init, Proxmox VE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2024.01~현재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개인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8319921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AI 기반 인프라
자동화 플랫폼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TA/설계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AI 인프라 자동화 구축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05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Python, Go, n8n,
MCP, Docker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2024.09~현재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개인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178434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Monotype Sorts" pitchFamily="2" charset="2"/>
                      </a:endParaR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Full-Stack
Observability Platform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en-US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TA/설계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en-US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통합 모니터링
플랫폼 구축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05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Grafana, Prometheus,
ELK, GlitchTip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Monotype Sorts" pitchFamily="2" charset="2"/>
                      </a:endParaR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2024.06~현재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개인</a:t>
                      </a: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5560218"/>
                  </a:ext>
                </a:extLst>
              </a:tr>
              <a:tr h="55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Monotype Sorts" pitchFamily="2" charset="2"/>
                      </a:endParaR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CI/CD 파이프라인
자동화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en-US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TA/구축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en-US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CI/CD 및
네트워크 자동화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05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GitHub Actions,
Traefik, Vault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0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itchFamily="18" charset="0"/>
                        <a:sym typeface="Monotype Sorts" pitchFamily="2" charset="2"/>
                      </a:endParaR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2024.03~현재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개인</a:t>
                      </a: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76182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4119165"/>
      </p:ext>
    </p:extLst>
  </p:cSld>
  <p:clrMapOvr>
    <a:masterClrMapping/>
  </p:clrMapOvr>
</p:sld>
</file>

<file path=ppt/theme/theme1.xml><?xml version="1.0" encoding="utf-8"?>
<a:theme xmlns:a="http://schemas.openxmlformats.org/drawingml/2006/main" name="5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4D5A82"/>
        </a:solidFill>
        <a:ln>
          <a:noFill/>
        </a:ln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>
          <a:defRPr>
            <a:solidFill>
              <a:schemeClr val="tx1"/>
            </a:solidFill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142</Words>
  <Application>Microsoft Office PowerPoint</Application>
  <PresentationFormat>와이드스크린</PresentationFormat>
  <Paragraphs>79</Paragraphs>
  <Slides>2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3" baseType="lpstr"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Chul Soo Park</dc:creator>
  <cp:lastModifiedBy>이재철</cp:lastModifiedBy>
  <cp:revision>15</cp:revision>
  <dcterms:created xsi:type="dcterms:W3CDTF">2025-10-19T06:13:25Z</dcterms:created>
  <dcterms:modified xsi:type="dcterms:W3CDTF">2026-02-12T07:33:55Z</dcterms:modified>
</cp:coreProperties>
</file>