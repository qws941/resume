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396" autoAdjust="0"/>
    <p:restoredTop sz="94660"/>
  </p:normalViewPr>
  <p:slideViewPr>
    <p:cSldViewPr snapToGrid="0">
      <p:cViewPr>
        <p:scale>
          <a:sx n="150" d="100"/>
          <a:sy n="150" d="100"/>
        </p:scale>
        <p:origin x="1590" y="54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0571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93444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14685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8128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6073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29976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81630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68568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9130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8767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077455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A23B0AC6-C932-67F9-38F2-6E8D140ED304}"/>
              </a:ext>
            </a:extLst>
          </p:cNvPr>
          <p:cNvCxnSpPr/>
          <p:nvPr userDrawn="1"/>
        </p:nvCxnSpPr>
        <p:spPr>
          <a:xfrm>
            <a:off x="0" y="841813"/>
            <a:ext cx="12192000" cy="0"/>
          </a:xfrm>
          <a:prstGeom prst="line">
            <a:avLst/>
          </a:prstGeom>
          <a:ln>
            <a:solidFill>
              <a:srgbClr val="0742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8995" y="6365892"/>
            <a:ext cx="1454331" cy="266107"/>
          </a:xfrm>
          <a:prstGeom prst="rect">
            <a:avLst/>
          </a:prstGeom>
        </p:spPr>
      </p:pic>
      <p:sp>
        <p:nvSpPr>
          <p:cNvPr id="10" name="제목 6"/>
          <p:cNvSpPr txBox="1">
            <a:spLocks/>
          </p:cNvSpPr>
          <p:nvPr userDrawn="1"/>
        </p:nvSpPr>
        <p:spPr>
          <a:xfrm>
            <a:off x="680751" y="206102"/>
            <a:ext cx="3439073" cy="498185"/>
          </a:xfrm>
          <a:prstGeom prst="rect">
            <a:avLst/>
          </a:prstGeom>
        </p:spPr>
        <p:txBody>
          <a:bodyPr/>
          <a:lstStyle>
            <a:lvl1pPr algn="l" rtl="0" fontAlgn="base" latinLnBrk="1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algn="ctr" rtl="0" fontAlgn="base" latinLnBrk="1">
              <a:spcBef>
                <a:spcPct val="0"/>
              </a:spcBef>
              <a:spcAft>
                <a:spcPct val="0"/>
              </a:spcAft>
              <a:defRPr sz="4749">
                <a:solidFill>
                  <a:schemeClr val="tx1"/>
                </a:solidFill>
                <a:latin typeface="KoPub돋움체 Medium  SemiBold" pitchFamily="50" charset="-127"/>
                <a:ea typeface="KoPub돋움체 Medium  SemiBold" pitchFamily="50" charset="-127"/>
              </a:defRPr>
            </a:lvl2pPr>
            <a:lvl3pPr algn="ctr" rtl="0" fontAlgn="base" latinLnBrk="1">
              <a:spcBef>
                <a:spcPct val="0"/>
              </a:spcBef>
              <a:spcAft>
                <a:spcPct val="0"/>
              </a:spcAft>
              <a:defRPr sz="4749">
                <a:solidFill>
                  <a:schemeClr val="tx1"/>
                </a:solidFill>
                <a:latin typeface="KoPub돋움체 Medium  SemiBold" pitchFamily="50" charset="-127"/>
                <a:ea typeface="KoPub돋움체 Medium  SemiBold" pitchFamily="50" charset="-127"/>
              </a:defRPr>
            </a:lvl3pPr>
            <a:lvl4pPr algn="ctr" rtl="0" fontAlgn="base" latinLnBrk="1">
              <a:spcBef>
                <a:spcPct val="0"/>
              </a:spcBef>
              <a:spcAft>
                <a:spcPct val="0"/>
              </a:spcAft>
              <a:defRPr sz="4749">
                <a:solidFill>
                  <a:schemeClr val="tx1"/>
                </a:solidFill>
                <a:latin typeface="KoPub돋움체 Medium  SemiBold" pitchFamily="50" charset="-127"/>
                <a:ea typeface="KoPub돋움체 Medium  SemiBold" pitchFamily="50" charset="-127"/>
              </a:defRPr>
            </a:lvl4pPr>
            <a:lvl5pPr algn="ctr" rtl="0" fontAlgn="base" latinLnBrk="1">
              <a:spcBef>
                <a:spcPct val="0"/>
              </a:spcBef>
              <a:spcAft>
                <a:spcPct val="0"/>
              </a:spcAft>
              <a:defRPr sz="4749">
                <a:solidFill>
                  <a:schemeClr val="tx1"/>
                </a:solidFill>
                <a:latin typeface="KoPub돋움체 Medium  SemiBold" pitchFamily="50" charset="-127"/>
                <a:ea typeface="KoPub돋움체 Medium  SemiBold" pitchFamily="50" charset="-127"/>
              </a:defRPr>
            </a:lvl5pPr>
            <a:lvl6pPr marL="493442" algn="ctr" rtl="0" fontAlgn="base" latinLnBrk="1">
              <a:spcBef>
                <a:spcPct val="0"/>
              </a:spcBef>
              <a:spcAft>
                <a:spcPct val="0"/>
              </a:spcAft>
              <a:defRPr sz="4749">
                <a:solidFill>
                  <a:schemeClr val="tx1"/>
                </a:solidFill>
                <a:latin typeface="KoPub돋움체 Medium  SemiBold" pitchFamily="50" charset="-127"/>
                <a:ea typeface="KoPub돋움체 Medium  SemiBold" pitchFamily="50" charset="-127"/>
              </a:defRPr>
            </a:lvl6pPr>
            <a:lvl7pPr marL="986884" algn="ctr" rtl="0" fontAlgn="base" latinLnBrk="1">
              <a:spcBef>
                <a:spcPct val="0"/>
              </a:spcBef>
              <a:spcAft>
                <a:spcPct val="0"/>
              </a:spcAft>
              <a:defRPr sz="4749">
                <a:solidFill>
                  <a:schemeClr val="tx1"/>
                </a:solidFill>
                <a:latin typeface="KoPub돋움체 Medium  SemiBold" pitchFamily="50" charset="-127"/>
                <a:ea typeface="KoPub돋움체 Medium  SemiBold" pitchFamily="50" charset="-127"/>
              </a:defRPr>
            </a:lvl7pPr>
            <a:lvl8pPr marL="1480326" algn="ctr" rtl="0" fontAlgn="base" latinLnBrk="1">
              <a:spcBef>
                <a:spcPct val="0"/>
              </a:spcBef>
              <a:spcAft>
                <a:spcPct val="0"/>
              </a:spcAft>
              <a:defRPr sz="4749">
                <a:solidFill>
                  <a:schemeClr val="tx1"/>
                </a:solidFill>
                <a:latin typeface="KoPub돋움체 Medium  SemiBold" pitchFamily="50" charset="-127"/>
                <a:ea typeface="KoPub돋움체 Medium  SemiBold" pitchFamily="50" charset="-127"/>
              </a:defRPr>
            </a:lvl8pPr>
            <a:lvl9pPr marL="1973768" algn="ctr" rtl="0" fontAlgn="base" latinLnBrk="1">
              <a:spcBef>
                <a:spcPct val="0"/>
              </a:spcBef>
              <a:spcAft>
                <a:spcPct val="0"/>
              </a:spcAft>
              <a:defRPr sz="4749">
                <a:solidFill>
                  <a:schemeClr val="tx1"/>
                </a:solidFill>
                <a:latin typeface="KoPub돋움체 Medium  SemiBold" pitchFamily="50" charset="-127"/>
                <a:ea typeface="KoPub돋움체 Medium  SemiBold" pitchFamily="50" charset="-127"/>
              </a:defRPr>
            </a:lvl9pPr>
          </a:lstStyle>
          <a:p>
            <a:pPr defTabSz="914400"/>
            <a:r>
              <a:rPr lang="ko-KR" altLang="en-US" dirty="0">
                <a:latin typeface="HY그래픽M" panose="02030600000101010101" pitchFamily="18" charset="-127"/>
                <a:ea typeface="HY그래픽M" panose="02030600000101010101" pitchFamily="18" charset="-127"/>
              </a:rPr>
              <a:t>이력 및 경력사항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A23B0AC6-C932-67F9-38F2-6E8D140ED304}"/>
              </a:ext>
            </a:extLst>
          </p:cNvPr>
          <p:cNvCxnSpPr/>
          <p:nvPr userDrawn="1"/>
        </p:nvCxnSpPr>
        <p:spPr>
          <a:xfrm>
            <a:off x="0" y="6228365"/>
            <a:ext cx="12192000" cy="0"/>
          </a:xfrm>
          <a:prstGeom prst="line">
            <a:avLst/>
          </a:prstGeom>
          <a:ln>
            <a:solidFill>
              <a:srgbClr val="0742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그룹 22"/>
          <p:cNvGrpSpPr/>
          <p:nvPr userDrawn="1"/>
        </p:nvGrpSpPr>
        <p:grpSpPr>
          <a:xfrm>
            <a:off x="469013" y="189470"/>
            <a:ext cx="61966" cy="565057"/>
            <a:chOff x="469013" y="189470"/>
            <a:chExt cx="61966" cy="565057"/>
          </a:xfrm>
        </p:grpSpPr>
        <p:cxnSp>
          <p:nvCxnSpPr>
            <p:cNvPr id="21" name="직선 연결선 20"/>
            <p:cNvCxnSpPr/>
            <p:nvPr userDrawn="1"/>
          </p:nvCxnSpPr>
          <p:spPr>
            <a:xfrm>
              <a:off x="469013" y="189470"/>
              <a:ext cx="0" cy="477795"/>
            </a:xfrm>
            <a:prstGeom prst="line">
              <a:avLst/>
            </a:prstGeom>
            <a:ln w="25400" cap="rnd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/>
            <p:cNvCxnSpPr/>
            <p:nvPr userDrawn="1"/>
          </p:nvCxnSpPr>
          <p:spPr>
            <a:xfrm>
              <a:off x="530979" y="276732"/>
              <a:ext cx="0" cy="477795"/>
            </a:xfrm>
            <a:prstGeom prst="line">
              <a:avLst/>
            </a:prstGeom>
            <a:ln w="25400" cap="rnd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22606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0F6D9032-CDD5-8690-FA66-2408BF2EA1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2075816"/>
              </p:ext>
            </p:extLst>
          </p:nvPr>
        </p:nvGraphicFramePr>
        <p:xfrm>
          <a:off x="478161" y="923889"/>
          <a:ext cx="10907963" cy="5180673"/>
        </p:xfrm>
        <a:graphic>
          <a:graphicData uri="http://schemas.openxmlformats.org/drawingml/2006/table">
            <a:tbl>
              <a:tblPr/>
              <a:tblGrid>
                <a:gridCol w="1525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5121">
                  <a:extLst>
                    <a:ext uri="{9D8B030D-6E8A-4147-A177-3AD203B41FA5}">
                      <a16:colId xmlns:a16="http://schemas.microsoft.com/office/drawing/2014/main" val="1416508356"/>
                    </a:ext>
                  </a:extLst>
                </a:gridCol>
                <a:gridCol w="213580">
                  <a:extLst>
                    <a:ext uri="{9D8B030D-6E8A-4147-A177-3AD203B41FA5}">
                      <a16:colId xmlns:a16="http://schemas.microsoft.com/office/drawing/2014/main" val="1537190452"/>
                    </a:ext>
                  </a:extLst>
                </a:gridCol>
                <a:gridCol w="1311540">
                  <a:extLst>
                    <a:ext uri="{9D8B030D-6E8A-4147-A177-3AD203B41FA5}">
                      <a16:colId xmlns:a16="http://schemas.microsoft.com/office/drawing/2014/main" val="248982781"/>
                    </a:ext>
                  </a:extLst>
                </a:gridCol>
                <a:gridCol w="1525120">
                  <a:extLst>
                    <a:ext uri="{9D8B030D-6E8A-4147-A177-3AD203B41FA5}">
                      <a16:colId xmlns:a16="http://schemas.microsoft.com/office/drawing/2014/main" val="686502626"/>
                    </a:ext>
                  </a:extLst>
                </a:gridCol>
                <a:gridCol w="2169750">
                  <a:extLst>
                    <a:ext uri="{9D8B030D-6E8A-4147-A177-3AD203B41FA5}">
                      <a16:colId xmlns:a16="http://schemas.microsoft.com/office/drawing/2014/main" val="3925810642"/>
                    </a:ext>
                  </a:extLst>
                </a:gridCol>
                <a:gridCol w="1112612">
                  <a:extLst>
                    <a:ext uri="{9D8B030D-6E8A-4147-A177-3AD203B41FA5}">
                      <a16:colId xmlns:a16="http://schemas.microsoft.com/office/drawing/2014/main" val="706285407"/>
                    </a:ext>
                  </a:extLst>
                </a:gridCol>
                <a:gridCol w="1525120">
                  <a:extLst>
                    <a:ext uri="{9D8B030D-6E8A-4147-A177-3AD203B41FA5}">
                      <a16:colId xmlns:a16="http://schemas.microsoft.com/office/drawing/2014/main" val="1169490513"/>
                    </a:ext>
                  </a:extLst>
                </a:gridCol>
              </a:tblGrid>
              <a:tr h="276771">
                <a:tc gridSpan="5">
                  <a:txBody>
                    <a:bodyPr/>
                    <a:lstStyle/>
                    <a:p>
                      <a:pPr marL="0" marR="0" lvl="0" indent="0" algn="l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en-US" altLang="ko-KR" sz="24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1. </a:t>
                      </a:r>
                      <a:r>
                        <a:rPr kumimoji="0" lang="ko-KR" altLang="en-US" sz="24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기본사항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0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0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0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kumimoji="0" lang="ko-KR" altLang="en-US" sz="14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담당업무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0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0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6300553"/>
                  </a:ext>
                </a:extLst>
              </a:tr>
              <a:tr h="341596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Pretendard SemiBold"/>
                          <a:ea typeface="Pretendard SemiBold"/>
                        </a:defRPr>
                      </a:lvl1pPr>
                      <a:lvl2pPr marL="49784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Pretendard SemiBold"/>
                          <a:ea typeface="Pretendard SemiBold"/>
                        </a:defRPr>
                      </a:lvl2pPr>
                      <a:lvl3pPr marL="99569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Pretendard SemiBold"/>
                          <a:ea typeface="Pretendard SemiBold"/>
                        </a:defRPr>
                      </a:lvl3pPr>
                      <a:lvl4pPr marL="149353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Pretendard SemiBold"/>
                          <a:ea typeface="Pretendard SemiBold"/>
                        </a:defRPr>
                      </a:lvl4pPr>
                      <a:lvl5pPr marL="199138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Pretendard SemiBold"/>
                          <a:ea typeface="Pretendard SemiBold"/>
                        </a:defRPr>
                      </a:lvl5pPr>
                      <a:lvl6pPr marL="248922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Pretendard SemiBold"/>
                          <a:ea typeface="Pretendard SemiBold"/>
                        </a:defRPr>
                      </a:lvl6pPr>
                      <a:lvl7pPr marL="298707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Pretendard SemiBold"/>
                          <a:ea typeface="Pretendard SemiBold"/>
                        </a:defRPr>
                      </a:lvl7pPr>
                      <a:lvl8pPr marL="3484916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Pretendard SemiBold"/>
                          <a:ea typeface="Pretendard SemiBold"/>
                        </a:defRPr>
                      </a:lvl8pPr>
                      <a:lvl9pPr marL="3982761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Pretendard SemiBold"/>
                          <a:ea typeface="Pretendard SemiBold"/>
                        </a:defRPr>
                      </a:lvl9pPr>
                    </a:lstStyle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4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성명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4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소속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4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Pretendard Medium" panose="02000603000000020004" pitchFamily="50" charset="-127"/>
                          <a:sym typeface="Pretendard SemiBold"/>
                        </a:rPr>
                        <a:t>직위 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400" b="1" kern="1200" baseline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직위 </a:t>
                      </a:r>
                      <a:endParaRPr kumimoji="0" lang="ko-KR" altLang="en-US" sz="1100" b="1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 Medium" panose="020006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400" b="1" kern="1200" baseline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등급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4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학력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4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전공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lang="ko-KR" altLang="en-US" sz="1400" b="0" kern="120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전문분야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7637"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sz="1400" b="0">
                          <a:latin typeface="맑은 고딕"/>
                        </a:rPr>
                        <a:t>이재철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sz="1100" b="0">
                          <a:latin typeface="맑은 고딕"/>
                        </a:rPr>
                        <a:t>아이티센 CTS</a:t>
                      </a: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sz="1100" b="0">
                          <a:latin typeface="+mn-ea"/>
                        </a:rPr>
                        <a:t>보안운영 엔지니어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sz="1100" b="0">
                          <a:latin typeface="맑은 고딕"/>
                        </a:rPr>
                        <a:t>중급</a:t>
                      </a: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sz="1100" b="0">
                          <a:latin typeface="맑은 고딕"/>
                        </a:rPr>
                        <a:t>한양사이버대학교(재학중)</a:t>
                      </a: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sz="1100" b="0">
                          <a:latin typeface="맑은 고딕"/>
                        </a:rPr>
                        <a:t>컴퓨터공학과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0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8508744"/>
                  </a:ext>
                </a:extLst>
              </a:tr>
              <a:tr h="373432"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4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나이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sz="1100" b="0">
                          <a:latin typeface="맑은 고딕"/>
                        </a:rPr>
                        <a:t>만   31 세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Pretendard Medium" panose="02000603000000020004" pitchFamily="50" charset="-127"/>
                          <a:sym typeface="Pretendard SemiBold"/>
                        </a:rPr>
                        <a:t>총 경력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총 경력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sz="1100" b="0">
                          <a:latin typeface="맑은 고딕"/>
                        </a:rPr>
                        <a:t>8년 11개월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전문분야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0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0413523"/>
                  </a:ext>
                </a:extLst>
              </a:tr>
              <a:tr h="247637">
                <a:tc gridSpan="5">
                  <a:txBody>
                    <a:bodyPr/>
                    <a:lstStyle/>
                    <a:p>
                      <a:pPr marL="0" marR="0" lvl="0" indent="0" algn="l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endParaRPr kumimoji="0" lang="ko-KR" altLang="en-US" sz="1100" b="0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 Medium" panose="020006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0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0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0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kumimoji="0" lang="ko-KR" altLang="en-US" sz="1100" b="0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kumimoji="0" lang="ko-KR" altLang="en-US" sz="1100" b="0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KoPub돋움체 Bold" panose="02020603020101020101" pitchFamily="18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6725"/>
                  </a:ext>
                </a:extLst>
              </a:tr>
              <a:tr h="247637">
                <a:tc gridSpan="5">
                  <a:txBody>
                    <a:bodyPr/>
                    <a:lstStyle/>
                    <a:p>
                      <a:r>
                        <a:t>(주)아이티센 CTS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r>
                        <a:t>2025.03 ~ 현재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r>
                        <a:t>정보보안 운영 엔지니어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kumimoji="0" lang="ko-KR" altLang="en-US" sz="1100" b="0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r>
                        <a:t>보안솔루션 관제, 인시던트 모니터링, DR 점검 지원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2744804"/>
                  </a:ext>
                </a:extLst>
              </a:tr>
              <a:tr h="276771">
                <a:tc gridSpan="5">
                  <a:txBody>
                    <a:bodyPr/>
                    <a:lstStyle/>
                    <a:p>
                      <a:pPr marL="0" marR="0" lvl="0" indent="0" algn="l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sz="1400" b="1">
                          <a:latin typeface="맑은 고딕"/>
                        </a:rPr>
                        <a:t>(주)가온누리정보시스템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0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/>
                </a:tc>
                <a:tc hMerge="1">
                  <a:txBody>
                    <a:bodyPr/>
                    <a:lstStyle/>
                    <a:p>
                      <a:r>
                        <a:t>2024.03 ~ 2025.02</a:t>
                      </a:r>
                    </a:p>
                  </a:txBody>
                  <a:tcPr anchor="ctr" horzOverflow="overflow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r>
                        <a:t>프리랜서 인프라 엔지니어</a:t>
                      </a:r>
                    </a:p>
                  </a:txBody>
                  <a:tcPr anchor="ctr" horzOverflow="overflow"/>
                </a:tc>
                <a:tc gridSpan="3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kumimoji="0" lang="en-US" altLang="ko-KR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3. </a:t>
                      </a: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자격증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r>
                        <a:t>보안 아키텍처 설계, 보안솔루션 구축, FSC 본인..</a:t>
                      </a:r>
                    </a:p>
                  </a:txBody>
                  <a:tcPr anchor="ctr" horzOverflow="overflow"/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628550480"/>
                  </a:ext>
                </a:extLst>
              </a:tr>
              <a:tr h="375270"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sz="1400" b="1">
                          <a:latin typeface="맑은 고딕"/>
                        </a:rPr>
                        <a:t>(주)콴텍투자일임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기간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sz="1100" b="1">
                          <a:latin typeface="맑은 고딕"/>
                        </a:rPr>
                        <a:t>2022.08 ~ 2024.03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endParaRPr kumimoji="0" lang="ko-KR" altLang="en-US" sz="1100" b="0" kern="1200" baseline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Pretendard Medium" panose="020006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sz="1100" b="1">
                          <a:latin typeface="맑은 고딕"/>
                        </a:rPr>
                        <a:t>인프라 엔지니어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자격증명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t>금융보안데이터센터 운영, AWS 클라우드 보안, 로..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취득일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9467489"/>
                  </a:ext>
                </a:extLst>
              </a:tr>
              <a:tr h="446110"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맑은 고딕"/>
                        </a:rPr>
                        <a:t>(주)펀엔씨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2025.03 ~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현재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t>2022.05 ~ 2022.07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맑은 고딕"/>
                        </a:rPr>
                        <a:t>DevOps 엔지니어</a:t>
                      </a:r>
                      <a:endParaRPr lang="en-US" altLang="ko-KR" sz="1000" b="0" i="0" u="none" strike="noStrike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</a:p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kumimoji="0" lang="en-US" altLang="ko-KR" sz="1100" b="0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Pretendard SemiBold"/>
                        </a:rPr>
                        <a:t>Red Hat Certified System Administrator (RHCSA) </a:t>
                      </a:r>
                      <a:endParaRPr kumimoji="0" lang="ko-KR" altLang="en-US" sz="1100" b="0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r>
                        <a:t>AWS 아키텍처 구축, K8s 마이그레이션 검토, ..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5312540"/>
                  </a:ext>
                </a:extLst>
              </a:tr>
              <a:tr h="446110"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맑은 고딕"/>
                        </a:rPr>
                        <a:t>(주)조인트리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2024.03~2025.02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t>2021.09 ~ 2022.04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맑은 고딕"/>
                        </a:rPr>
                        <a:t>인프라·시스템 엔지니어</a:t>
                      </a:r>
                      <a:endParaRPr lang="en-US" altLang="ko-KR" sz="1000" b="0" i="0" u="none" strike="noStrike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kumimoji="0" lang="af-ZA" altLang="ko-KR" sz="1100" b="0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Pretendard SemiBold"/>
                        </a:rPr>
                        <a:t>CompTIA Linux+ </a:t>
                      </a:r>
                      <a:endParaRPr kumimoji="0" lang="ko-KR" altLang="en-US" sz="1100" b="0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r>
                        <a:t>VMware NSX-T 네트워크 세분화, NAC/D..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578843"/>
                  </a:ext>
                </a:extLst>
              </a:tr>
              <a:tr h="247637"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맑은 고딕"/>
                        </a:rPr>
                        <a:t>(주)메타넷엠플랫폼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2022.08~2024.03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t>2019.12 ~ 2021.08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맑은 고딕"/>
                        </a:rPr>
                        <a:t>인프라·시스템 엔지니어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kumimoji="0" lang="af-ZA" altLang="ko-KR" sz="1100" b="0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Pretendard SemiBold"/>
                        </a:rPr>
                        <a:t>LPIC Level 1 </a:t>
                      </a:r>
                      <a:endParaRPr kumimoji="0" lang="ko-KR" altLang="en-US" sz="1100" b="0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r>
                        <a:t>재택근무 환경 구축, VPN/NAC 통합, Ansi..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5278148"/>
                  </a:ext>
                </a:extLst>
              </a:tr>
              <a:tr h="300442"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맑은 고딕"/>
                        </a:rPr>
                        <a:t>(주)엠티데이타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2022.05~2022.07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t>2017.02 ~ 2018.10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맑은 고딕"/>
                        </a:rPr>
                        <a:t>서버·시스템 엔지니어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kumimoji="0" lang="ko-KR" altLang="en-US" sz="1100" b="0" kern="1200" baseline="0" dirty="0" err="1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Pretendard SemiBold"/>
                        </a:rPr>
                        <a:t>사무자동화산업기사</a:t>
                      </a:r>
                      <a:endParaRPr kumimoji="0" lang="ko-KR" altLang="en-US" sz="1100" b="0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r>
                        <a:t>Linux 서버 운영, 방화벽/IDS 관리, 망분리..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8348449"/>
                  </a:ext>
                </a:extLst>
              </a:tr>
              <a:tr h="44611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조인트리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2021.09~2022.04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국민대학교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차세대 정보보호시스템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구축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운영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kumimoji="0" lang="ko-KR" altLang="en-US" sz="1100" b="0" kern="1200" baseline="0" dirty="0" err="1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Pretendard SemiBold"/>
                        </a:rPr>
                        <a:t>리눅스마스터</a:t>
                      </a:r>
                      <a:r>
                        <a:rPr kumimoji="0" lang="ko-KR" altLang="en-US" sz="1100" b="0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Pretendard SemiBold"/>
                        </a:rPr>
                        <a:t> </a:t>
                      </a:r>
                      <a:r>
                        <a:rPr kumimoji="0" lang="en-US" altLang="ko-KR" sz="1100" b="0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Pretendard SemiBold"/>
                        </a:rPr>
                        <a:t>2</a:t>
                      </a:r>
                      <a:r>
                        <a:rPr kumimoji="0" lang="ko-KR" altLang="en-US" sz="1100" b="0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Pretendard SemiBold"/>
                        </a:rPr>
                        <a:t>급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581663"/>
                  </a:ext>
                </a:extLst>
              </a:tr>
              <a:tr h="44611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메타넷엠플랫폼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2020.08 ~ 2021.08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위탁운영 콜센터 구축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b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네트워크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회선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보안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kumimoji="0" lang="en-US" altLang="ko-KR" sz="1100" b="0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Pretendard SemiBold"/>
                        </a:rPr>
                        <a:t>CCNP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4326498"/>
                  </a:ext>
                </a:extLst>
              </a:tr>
              <a:tr h="30044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엠티데이타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2017.08~2018.08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한국항공우주산업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시스템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보안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kumimoji="0" lang="ko-KR" altLang="en-US" sz="1100" b="0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932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08235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A819F73D-066F-DCE5-3DAD-E265E4F4A6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7406439"/>
              </p:ext>
            </p:extLst>
          </p:nvPr>
        </p:nvGraphicFramePr>
        <p:xfrm>
          <a:off x="646728" y="1171631"/>
          <a:ext cx="10907962" cy="4604304"/>
        </p:xfrm>
        <a:graphic>
          <a:graphicData uri="http://schemas.openxmlformats.org/drawingml/2006/table">
            <a:tbl>
              <a:tblPr/>
              <a:tblGrid>
                <a:gridCol w="23679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1381">
                  <a:extLst>
                    <a:ext uri="{9D8B030D-6E8A-4147-A177-3AD203B41FA5}">
                      <a16:colId xmlns:a16="http://schemas.microsoft.com/office/drawing/2014/main" val="1163780365"/>
                    </a:ext>
                  </a:extLst>
                </a:gridCol>
                <a:gridCol w="1835894">
                  <a:extLst>
                    <a:ext uri="{9D8B030D-6E8A-4147-A177-3AD203B41FA5}">
                      <a16:colId xmlns:a16="http://schemas.microsoft.com/office/drawing/2014/main" val="2402368711"/>
                    </a:ext>
                  </a:extLst>
                </a:gridCol>
                <a:gridCol w="2036513">
                  <a:extLst>
                    <a:ext uri="{9D8B030D-6E8A-4147-A177-3AD203B41FA5}">
                      <a16:colId xmlns:a16="http://schemas.microsoft.com/office/drawing/2014/main" val="736016067"/>
                    </a:ext>
                  </a:extLst>
                </a:gridCol>
                <a:gridCol w="1881096">
                  <a:extLst>
                    <a:ext uri="{9D8B030D-6E8A-4147-A177-3AD203B41FA5}">
                      <a16:colId xmlns:a16="http://schemas.microsoft.com/office/drawing/2014/main" val="1670531095"/>
                    </a:ext>
                  </a:extLst>
                </a:gridCol>
                <a:gridCol w="1525119">
                  <a:extLst>
                    <a:ext uri="{9D8B030D-6E8A-4147-A177-3AD203B41FA5}">
                      <a16:colId xmlns:a16="http://schemas.microsoft.com/office/drawing/2014/main" val="1169490513"/>
                    </a:ext>
                  </a:extLst>
                </a:gridCol>
              </a:tblGrid>
              <a:tr h="408260">
                <a:tc gridSpan="6">
                  <a:txBody>
                    <a:bodyPr/>
                    <a:lstStyle/>
                    <a:p>
                      <a:pPr marL="0" marR="0" lvl="0" indent="0" algn="l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en-US" altLang="ko-KR" sz="24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4. </a:t>
                      </a:r>
                      <a:r>
                        <a:rPr kumimoji="0" lang="ko-KR" altLang="en-US" sz="24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프로젝트 참여이력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0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8904196"/>
                  </a:ext>
                </a:extLst>
              </a:tr>
              <a:tr h="539854"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4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프로젝트명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lang="ko-KR" altLang="en-US" sz="1400" b="1" kern="120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역할</a:t>
                      </a:r>
                      <a:endParaRPr kumimoji="0" lang="ko-KR" altLang="en-US" sz="1100" b="1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 Medium" panose="020006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lang="ko-KR" altLang="en-US" sz="1400" b="1" kern="120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담당업무</a:t>
                      </a:r>
                      <a:endParaRPr kumimoji="0" lang="ko-KR" altLang="en-US" sz="1100" b="1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 Medium" panose="020006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lang="ko-KR" altLang="en-US" sz="1400" b="1" kern="1200" dirty="0" err="1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기술스펙</a:t>
                      </a:r>
                      <a:endParaRPr lang="ko-KR" altLang="en-US" sz="1100" b="1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lang="ko-KR" altLang="en-US" sz="1400" b="1" kern="120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투입기간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lang="ko-KR" altLang="en-US" sz="1400" b="1" kern="120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발주처</a:t>
                      </a:r>
                      <a:endParaRPr lang="ko-KR" altLang="en-US" sz="10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6881922"/>
                  </a:ext>
                </a:extLst>
              </a:tr>
              <a:tr h="3656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200">
                          <a:latin typeface="맑은 고딕"/>
                        </a:rPr>
                        <a:t>NEXTRADE 보안운영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r>
                        <a:rPr sz="1200">
                          <a:latin typeface="맑은 고딕"/>
                        </a:rPr>
                        <a:t>보안운영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Python, Splunk, n8n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r>
                        <a:rPr sz="1200">
                          <a:latin typeface="맑은 고딕"/>
                        </a:rPr>
                        <a:t>2025.03~현재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200">
                          <a:latin typeface="맑은 고딕"/>
                        </a:rPr>
                        <a:t>Nextrade</a:t>
                      </a:r>
                      <a:endParaRPr lang="ko-KR" altLang="en-US" sz="1050" kern="1200" spc="-100" baseline="0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1806300"/>
                  </a:ext>
                </a:extLst>
              </a:tr>
              <a:tr h="3656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200">
                          <a:latin typeface="맑은 고딕"/>
                        </a:rPr>
                        <a:t>Nextrade 보안인프라 구축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r>
                        <a:rPr sz="1200">
                          <a:latin typeface="맑은 고딕"/>
                        </a:rPr>
                        <a:t>설계/구축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Python, FortiManager API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sz="1200">
                          <a:latin typeface="맑은 고딕"/>
                        </a:rPr>
                        <a:t>2024.03~2025.02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sz="1200">
                          <a:latin typeface="맑은 고딕"/>
                        </a:rPr>
                        <a:t>Nextrade</a:t>
                      </a:r>
                      <a:endParaRPr lang="ko-KR" altLang="ko-KR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5300894"/>
                  </a:ext>
                </a:extLst>
              </a:tr>
              <a:tr h="3656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200">
                          <a:latin typeface="맑은 고딕"/>
                        </a:rPr>
                        <a:t>AI투자서비스 보안운영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r>
                        <a:rPr sz="1200">
                          <a:latin typeface="맑은 고딕"/>
                        </a:rPr>
                        <a:t>인프라운영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Python, AWS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sz="1200">
                          <a:latin typeface="맑은 고딕"/>
                        </a:rPr>
                        <a:t>2022.08~2024.03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200">
                          <a:latin typeface="맑은 고딕"/>
                        </a:rPr>
                        <a:t>콴텍투자일임</a:t>
                      </a:r>
                      <a:endParaRPr lang="ko-KR" altLang="ko-KR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14561"/>
                  </a:ext>
                </a:extLst>
              </a:tr>
              <a:tr h="365619">
                <a:tc>
                  <a:txBody>
                    <a:bodyPr/>
                    <a:lstStyle/>
                    <a:p>
                      <a:r>
                        <a:t>국민대 차세대 정보시스템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ko-KR" altLang="en-US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보안통합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VMware NSX-T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2021.09~2022.04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국민대학교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8546702"/>
                  </a:ext>
                </a:extLst>
              </a:tr>
              <a:tr h="365619">
                <a:tc>
                  <a:txBody>
                    <a:bodyPr/>
                    <a:lstStyle/>
                    <a:p>
                      <a:r>
                        <a:t>콜센터 원격근무 인프라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ko-KR" altLang="en-US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VPN/NAC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Ansible, Python, VPN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2019.12~2021.08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메타넷엠플랫폼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682709"/>
                  </a:ext>
                </a:extLst>
              </a:tr>
              <a:tr h="365619">
                <a:tc>
                  <a:txBody>
                    <a:bodyPr/>
                    <a:lstStyle/>
                    <a:p>
                      <a:r>
                        <a:t>KAI 인프라 운영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ko-KR" altLang="en-US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서버운영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Linux, Shell, Firewall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2017.02~2018.10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한국항공우주산업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9163382"/>
                  </a:ext>
                </a:extLst>
              </a:tr>
              <a:tr h="3656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kern="1200" spc="-100" baseline="0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ko-KR" altLang="en-US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ko-KR" altLang="en-US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3000"/>
                        </a:lnSpc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endParaRPr lang="ko-KR" sz="105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8319921"/>
                  </a:ext>
                </a:extLst>
              </a:tr>
              <a:tr h="3656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kern="1200" spc="-100" baseline="0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ko-KR" altLang="en-US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ko-KR" altLang="en-US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3000"/>
                        </a:lnSpc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endParaRPr lang="ko-KR" sz="105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0178434"/>
                  </a:ext>
                </a:extLst>
              </a:tr>
              <a:tr h="3656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kern="1200" spc="-100" baseline="0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Monotype Sorts" pitchFamily="2" charset="2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en-US" altLang="ko-KR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en-US" altLang="ko-KR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3000"/>
                        </a:lnSpc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endParaRPr lang="ko-KR" sz="105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Monotype Sorts" pitchFamily="2" charset="2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5560218"/>
                  </a:ext>
                </a:extLst>
              </a:tr>
              <a:tr h="3656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kern="1200" spc="-100" baseline="0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Monotype Sorts" pitchFamily="2" charset="2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en-US" altLang="ko-KR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en-US" altLang="ko-KR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3000"/>
                        </a:lnSpc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endParaRPr lang="ko-KR" sz="105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kumimoji="0" lang="en-US" altLang="ko-KR" sz="105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itchFamily="18" charset="0"/>
                        <a:sym typeface="Monotype Sorts" pitchFamily="2" charset="2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76182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41191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w Cen MT">
      <a:majorFont>
        <a:latin typeface="Tw Cen MT" panose="020B0602020104020603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142</Words>
  <Application>Microsoft Office PowerPoint</Application>
  <PresentationFormat>와이드스크린</PresentationFormat>
  <Paragraphs>79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15" baseType="lpstr">
      <vt:lpstr>HY그래픽M</vt:lpstr>
      <vt:lpstr>HY얕은샘물M</vt:lpstr>
      <vt:lpstr>Monotype Sorts</vt:lpstr>
      <vt:lpstr>Pretendard</vt:lpstr>
      <vt:lpstr>Pretendard Medium</vt:lpstr>
      <vt:lpstr>Pretendard SemiBold</vt:lpstr>
      <vt:lpstr>맑은 고딕</vt:lpstr>
      <vt:lpstr>Arial</vt:lpstr>
      <vt:lpstr>Times New Roman</vt:lpstr>
      <vt:lpstr>Tw Cen MT</vt:lpstr>
      <vt:lpstr>Wingdings</vt:lpstr>
      <vt:lpstr>Wingdings 2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Chul Soo Park</dc:creator>
  <cp:lastModifiedBy>Chul Soo Park</cp:lastModifiedBy>
  <cp:revision>14</cp:revision>
  <dcterms:created xsi:type="dcterms:W3CDTF">2025-10-19T06:13:25Z</dcterms:created>
  <dcterms:modified xsi:type="dcterms:W3CDTF">2025-10-21T05:27:13Z</dcterms:modified>
</cp:coreProperties>
</file>